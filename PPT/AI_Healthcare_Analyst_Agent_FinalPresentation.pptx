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1119" r:id="rId2"/>
    <p:sldId id="1170" r:id="rId3"/>
    <p:sldId id="1165" r:id="rId4"/>
    <p:sldId id="1182" r:id="rId5"/>
    <p:sldId id="1171" r:id="rId6"/>
    <p:sldId id="1172" r:id="rId7"/>
    <p:sldId id="1173" r:id="rId8"/>
    <p:sldId id="1183" r:id="rId9"/>
    <p:sldId id="1174" r:id="rId10"/>
    <p:sldId id="1175" r:id="rId11"/>
    <p:sldId id="1176" r:id="rId12"/>
    <p:sldId id="1177" r:id="rId13"/>
    <p:sldId id="1179" r:id="rId14"/>
    <p:sldId id="1187" r:id="rId15"/>
    <p:sldId id="1184" r:id="rId16"/>
    <p:sldId id="1185" r:id="rId17"/>
    <p:sldId id="1186" r:id="rId18"/>
    <p:sldId id="1180" r:id="rId19"/>
    <p:sldId id="1181" r:id="rId20"/>
    <p:sldId id="30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B22F"/>
    <a:srgbClr val="AEFCFC"/>
    <a:srgbClr val="E0C1FF"/>
    <a:srgbClr val="CC99FF"/>
    <a:srgbClr val="00589A"/>
    <a:srgbClr val="DECEFE"/>
    <a:srgbClr val="D0B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12" autoAdjust="0"/>
  </p:normalViewPr>
  <p:slideViewPr>
    <p:cSldViewPr snapToGrid="0">
      <p:cViewPr varScale="1">
        <p:scale>
          <a:sx n="74" d="100"/>
          <a:sy n="74" d="100"/>
        </p:scale>
        <p:origin x="104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29682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</p:sldLayoutIdLst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aan3213/AI-Healthcare-Analytics-Assistant/tree/main" TargetMode="External"/><Relationship Id="rId2" Type="http://schemas.openxmlformats.org/officeDocument/2006/relationships/hyperlink" Target="https://ai-healthcare-analytics-assistant-2kgzpkmxxa7kspjhog9k3m.streamlit.app/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docs.google.com/spreadsheets/d/1qHyaP3vddFoCyFDE5sN8g4FvPb2bzzI893B2ykyh3hk/edit?gid=0#gid=0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179127" y="2476312"/>
            <a:ext cx="5860025" cy="3934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3800" b="1" dirty="0"/>
              <a:t>AI Healthcare Analytics Assistant</a:t>
            </a:r>
          </a:p>
          <a:p>
            <a:pPr algn="ctr" defTabSz="1219170">
              <a:buClr>
                <a:srgbClr val="000000"/>
              </a:buClr>
            </a:pPr>
            <a:r>
              <a:rPr lang="en-IN" sz="2500" kern="0" dirty="0">
                <a:solidFill>
                  <a:prstClr val="black">
                    <a:lumMod val="85000"/>
                    <a:lumOff val="15000"/>
                  </a:prstClr>
                </a:solidFill>
                <a:cs typeface="Arial"/>
                <a:sym typeface="Arial"/>
              </a:rPr>
              <a:t>(</a:t>
            </a:r>
            <a:r>
              <a:rPr lang="en-IN" sz="1600" dirty="0"/>
              <a:t>Agentic AI for Conversational Healthcare Data Analytics</a:t>
            </a:r>
            <a:r>
              <a:rPr lang="en-US" sz="2500" dirty="0"/>
              <a:t>)</a:t>
            </a:r>
          </a:p>
          <a:p>
            <a:pPr algn="ctr" defTabSz="1219170">
              <a:buClr>
                <a:srgbClr val="000000"/>
              </a:buClr>
            </a:pPr>
            <a:r>
              <a:rPr lang="en-IN" sz="1600" dirty="0"/>
              <a:t>Snowflake • n8n • Gemini • Streamlit</a:t>
            </a:r>
            <a:endParaRPr lang="en-IN" sz="1600" b="1" kern="0" dirty="0">
              <a:solidFill>
                <a:prstClr val="black">
                  <a:lumMod val="85000"/>
                  <a:lumOff val="15000"/>
                </a:prstClr>
              </a:solidFill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3000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DA984-D9DE-A424-07FB-41B685C3F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447" y="1137600"/>
            <a:ext cx="11297106" cy="497806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Business Problem &amp; Project Objectives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Healthcare Data &amp; Data Model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Solution Architecture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Snowflake Data Platform &amp; Data Preparation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Agentic AI Workflow in n8n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Healthcare Analytics &amp; KPI Framework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Conversational AI Assistant &amp; Visualization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Business Value &amp; Key Insights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Live Demonstration &amp; Project Resources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Conclusion &amp; Key Achievements</a:t>
            </a:r>
            <a:endParaRPr lang="en-US" sz="18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F5D07-DB01-758D-7728-D416BBFA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14400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>
                <a:latin typeface="+mj-lt"/>
              </a:rPr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A8A4F-8662-F3C0-56EC-5FCF4CDC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5" descr="Agendas – Haltham Parish Meeting">
            <a:extLst>
              <a:ext uri="{FF2B5EF4-FFF2-40B4-BE49-F238E27FC236}">
                <a16:creationId xmlns:a16="http://schemas.microsoft.com/office/drawing/2014/main" id="{035D0718-1483-A6D5-1A09-843083D31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986" y="1490892"/>
            <a:ext cx="3330286" cy="3607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191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DA984-D9DE-A424-07FB-41B685C3F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9772" y="1010824"/>
            <a:ext cx="12358255" cy="828367"/>
          </a:xfrm>
        </p:spPr>
        <p:txBody>
          <a:bodyPr>
            <a:noAutofit/>
          </a:bodyPr>
          <a:lstStyle/>
          <a:p>
            <a:pPr marL="203195" indent="0">
              <a:buNone/>
            </a:pPr>
            <a:r>
              <a:rPr lang="en-US" sz="1700" b="1" dirty="0"/>
              <a:t>Organizations generate large volumes of business data every day, making continuous performance monitoring increasingly challenging in following areas – </a:t>
            </a:r>
          </a:p>
          <a:p>
            <a:pPr marL="203195" indent="0">
              <a:buNone/>
            </a:pPr>
            <a:endParaRPr lang="en-US" sz="17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AF5D07-DB01-758D-7728-D416BBFA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2836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>
                <a:latin typeface="+mj-lt"/>
              </a:rPr>
              <a:t>BUSINESS PROBLEM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A8A4F-8662-F3C0-56EC-5FCF4CDC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A1E72C3E-0076-CEF9-C0E6-0AA4BFF44400}"/>
              </a:ext>
            </a:extLst>
          </p:cNvPr>
          <p:cNvSpPr txBox="1">
            <a:spLocks/>
          </p:cNvSpPr>
          <p:nvPr/>
        </p:nvSpPr>
        <p:spPr>
          <a:xfrm>
            <a:off x="136493" y="1839191"/>
            <a:ext cx="6492907" cy="4488873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1600" b="1" dirty="0"/>
              <a:t> Fragmented Healthcare Data - </a:t>
            </a:r>
            <a:br>
              <a:rPr lang="en-IN" sz="1600" dirty="0"/>
            </a:br>
            <a:r>
              <a:rPr lang="en-IN" sz="1600" dirty="0"/>
              <a:t>Patient, encounter, provider, payer, procedure, condition, and organization data are distributed across multiple related datasets.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b="1" dirty="0"/>
              <a:t>High Dependency on SQL &amp; Technical Teams -</a:t>
            </a:r>
            <a:br>
              <a:rPr lang="en-IN" sz="1600" dirty="0"/>
            </a:br>
            <a:r>
              <a:rPr lang="en-IN" sz="1600" dirty="0"/>
              <a:t>Business users need technical expertise to answer even straightforward analytical questions.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1600" dirty="0"/>
          </a:p>
          <a:p>
            <a:pPr>
              <a:lnSpc>
                <a:spcPct val="150000"/>
              </a:lnSpc>
            </a:pPr>
            <a:r>
              <a:rPr lang="en-IN" sz="1600" b="1" dirty="0"/>
              <a:t>Slow Ad-Hoc Analysis -</a:t>
            </a:r>
            <a:br>
              <a:rPr lang="en-IN" sz="1600" dirty="0"/>
            </a:br>
            <a:r>
              <a:rPr lang="en-IN" sz="1600" dirty="0"/>
              <a:t>Questions such as provider performance, payer utilization, claim amounts, and encounter trends require manual query development.</a:t>
            </a:r>
          </a:p>
          <a:p>
            <a:pPr marL="203195" indent="0">
              <a:lnSpc>
                <a:spcPct val="150000"/>
              </a:lnSpc>
              <a:buNone/>
            </a:pPr>
            <a:endParaRPr lang="en-US" sz="1600" b="1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342E9-776D-230F-72A5-D615339817F8}"/>
              </a:ext>
            </a:extLst>
          </p:cNvPr>
          <p:cNvSpPr txBox="1"/>
          <p:nvPr/>
        </p:nvSpPr>
        <p:spPr>
          <a:xfrm>
            <a:off x="6629400" y="2103543"/>
            <a:ext cx="5302828" cy="281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03195" indent="0">
              <a:lnSpc>
                <a:spcPct val="150000"/>
              </a:lnSpc>
              <a:buNone/>
            </a:pPr>
            <a:endParaRPr lang="en-IN" sz="1600" dirty="0"/>
          </a:p>
          <a:p>
            <a:pPr marL="48894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Difficult Cross-Table Analysis -</a:t>
            </a:r>
            <a:br>
              <a:rPr lang="en-IN" sz="1600" dirty="0"/>
            </a:br>
            <a:r>
              <a:rPr lang="en-IN" sz="1400" dirty="0"/>
              <a:t>Meaningful healthcare insights often require combining multiple entities and calculating derived KPIs</a:t>
            </a:r>
          </a:p>
          <a:p>
            <a:pPr marL="203195" indent="0">
              <a:lnSpc>
                <a:spcPct val="150000"/>
              </a:lnSpc>
              <a:buNone/>
            </a:pPr>
            <a:endParaRPr lang="en-IN" sz="1600" dirty="0"/>
          </a:p>
          <a:p>
            <a:pPr marL="48894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b="1" dirty="0"/>
              <a:t>Limited Conversational Access to Data -</a:t>
            </a:r>
            <a:br>
              <a:rPr lang="en-IN" sz="1600" dirty="0"/>
            </a:br>
            <a:r>
              <a:rPr lang="en-IN" sz="1400" dirty="0"/>
              <a:t>Traditional dashboards answer predefined questions but do not easily support natural-language follow-up analysis</a:t>
            </a:r>
            <a:r>
              <a:rPr lang="en-IN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991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B31865-379B-41F6-FE78-552EE57C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34020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/>
              <a:t>Business Need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A1CED-D18C-A29A-7587-D82507BE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F3DE7F36-6BE6-BBAE-9717-04B81166C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599" y="1516972"/>
            <a:ext cx="9601237" cy="3169328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2400" b="1" dirty="0"/>
              <a:t>A governed AI-powered analytics assistant that can:</a:t>
            </a:r>
          </a:p>
          <a:p>
            <a:pPr marL="203195" indent="0">
              <a:buNone/>
            </a:pPr>
            <a:endParaRPr lang="en-IN" sz="2400" b="1" dirty="0"/>
          </a:p>
          <a:p>
            <a:pPr lvl="0"/>
            <a:r>
              <a:rPr lang="en-IN" sz="2400" dirty="0"/>
              <a:t>Understand healthcare questions in natural language </a:t>
            </a:r>
          </a:p>
          <a:p>
            <a:pPr lvl="0"/>
            <a:r>
              <a:rPr lang="en-IN" sz="2400" dirty="0"/>
              <a:t>Generate and execute read-only SQL against curated data </a:t>
            </a:r>
          </a:p>
          <a:p>
            <a:pPr lvl="0"/>
            <a:r>
              <a:rPr lang="en-IN" sz="2400" dirty="0"/>
              <a:t>Combine information across healthcare entities </a:t>
            </a:r>
          </a:p>
          <a:p>
            <a:pPr lvl="0"/>
            <a:r>
              <a:rPr lang="en-IN" sz="2400" dirty="0"/>
              <a:t>Return clear analytical answers and visual insights </a:t>
            </a:r>
          </a:p>
          <a:p>
            <a:pPr lvl="0"/>
            <a:r>
              <a:rPr lang="en-IN" sz="2400" dirty="0"/>
              <a:t>Maintain conversational context for follow-up questions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F2BCB-D430-58EE-A082-24AB16E2E2D7}"/>
              </a:ext>
            </a:extLst>
          </p:cNvPr>
          <p:cNvSpPr txBox="1"/>
          <p:nvPr/>
        </p:nvSpPr>
        <p:spPr>
          <a:xfrm>
            <a:off x="415599" y="5185164"/>
            <a:ext cx="11442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Business Need:</a:t>
            </a:r>
            <a:r>
              <a:rPr lang="en-IN" sz="1800" dirty="0"/>
              <a:t> Enable faster, self-service healthcare analytics while maintaining controlled, governed access to the underlying data.</a:t>
            </a:r>
          </a:p>
        </p:txBody>
      </p:sp>
    </p:spTree>
    <p:extLst>
      <p:ext uri="{BB962C8B-B14F-4D97-AF65-F5344CB8AC3E}">
        <p14:creationId xmlns:p14="http://schemas.microsoft.com/office/powerpoint/2010/main" val="6367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EAA4-BA4A-F662-FC5B-6E8BB0174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AC2EE7-59E0-81B2-F19E-366C79CD8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192" y="1022414"/>
            <a:ext cx="11629615" cy="828367"/>
          </a:xfrm>
        </p:spPr>
        <p:txBody>
          <a:bodyPr>
            <a:noAutofit/>
          </a:bodyPr>
          <a:lstStyle/>
          <a:p>
            <a:pPr marL="203195" indent="0">
              <a:buNone/>
            </a:pPr>
            <a:r>
              <a:rPr lang="en-IN" sz="1600" b="1" dirty="0"/>
              <a:t>To develop an agentic AI-powered healthcare analytics assistant that enables users to query curated healthcare data using natural language and receive governed, data-driven insights through conversational analysis and visualizations.</a:t>
            </a:r>
            <a:endParaRPr lang="en-US" sz="16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38D4B0-3817-CCB1-19B7-2D9AF7AFE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2836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>
                <a:latin typeface="+mj-lt"/>
              </a:rPr>
              <a:t>PROJECT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02A62-826D-1B17-FFA0-E523B3C6A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2EFDD281-24C7-340E-1B96-2C2824D99CFC}"/>
              </a:ext>
            </a:extLst>
          </p:cNvPr>
          <p:cNvSpPr txBox="1">
            <a:spLocks/>
          </p:cNvSpPr>
          <p:nvPr/>
        </p:nvSpPr>
        <p:spPr>
          <a:xfrm>
            <a:off x="114938" y="2189335"/>
            <a:ext cx="5418220" cy="4225112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endParaRPr lang="en-IN" sz="1400" b="1" dirty="0"/>
          </a:p>
          <a:p>
            <a:r>
              <a:rPr lang="en-IN" sz="1400" b="1" dirty="0"/>
              <a:t>Conversational Analytics:</a:t>
            </a:r>
            <a:br>
              <a:rPr lang="en-IN" sz="1400" b="1" dirty="0"/>
            </a:br>
            <a:br>
              <a:rPr lang="en-IN" sz="1400" dirty="0"/>
            </a:br>
            <a:r>
              <a:rPr lang="en-IN" sz="1400" dirty="0"/>
              <a:t>Enable users to ask healthcare business questions using natural language instead of writing SQL.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Governed SQL Generation:</a:t>
            </a:r>
            <a:br>
              <a:rPr lang="en-IN" sz="1400" b="1" dirty="0"/>
            </a:br>
            <a:br>
              <a:rPr lang="en-IN" sz="1400" dirty="0"/>
            </a:br>
            <a:r>
              <a:rPr lang="en-IN" sz="1400" dirty="0"/>
              <a:t>Translate user questions into controlled, read-only SQL queries for analytical execution.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Integrated Healthcare Data Analysis:</a:t>
            </a:r>
            <a:br>
              <a:rPr lang="en-IN" sz="1400" b="1" dirty="0"/>
            </a:br>
            <a:br>
              <a:rPr lang="en-IN" sz="1400" dirty="0"/>
            </a:br>
            <a:r>
              <a:rPr lang="en-IN" sz="1400" dirty="0"/>
              <a:t>Analyse data across providers, patients, encounters, payers, procedures, organizations, and conditions.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B0A47-EEF2-0A83-1FE9-3D4798209469}"/>
              </a:ext>
            </a:extLst>
          </p:cNvPr>
          <p:cNvSpPr txBox="1"/>
          <p:nvPr/>
        </p:nvSpPr>
        <p:spPr>
          <a:xfrm>
            <a:off x="6300170" y="2469720"/>
            <a:ext cx="577689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AI-Powered Insights:</a:t>
            </a:r>
          </a:p>
          <a:p>
            <a:br>
              <a:rPr lang="en-IN" sz="1400" dirty="0"/>
            </a:br>
            <a:r>
              <a:rPr lang="en-IN" sz="1400" dirty="0"/>
              <a:t>Return concise answers, contextual insights, and explanations from the underlying healthcare data.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Dynamic Visualization:</a:t>
            </a:r>
            <a:br>
              <a:rPr lang="en-IN" sz="1400" b="1" dirty="0"/>
            </a:br>
            <a:br>
              <a:rPr lang="en-IN" sz="1400" dirty="0"/>
            </a:br>
            <a:r>
              <a:rPr lang="en-IN" sz="1400" dirty="0"/>
              <a:t>Automatically present comparative and ranking analyses through tables and charts.</a:t>
            </a:r>
          </a:p>
          <a:p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Conversational Context:</a:t>
            </a:r>
            <a:br>
              <a:rPr lang="en-IN" sz="1400" b="1" dirty="0"/>
            </a:br>
            <a:br>
              <a:rPr lang="en-IN" sz="1400" dirty="0"/>
            </a:br>
            <a:r>
              <a:rPr lang="en-IN" sz="1400" dirty="0"/>
              <a:t>Maintain context across follow-up questions using session-based AI memory.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7B79E-4B55-0E80-028D-32E132ADA848}"/>
              </a:ext>
            </a:extLst>
          </p:cNvPr>
          <p:cNvSpPr txBox="1"/>
          <p:nvPr/>
        </p:nvSpPr>
        <p:spPr>
          <a:xfrm>
            <a:off x="-1714501" y="1850781"/>
            <a:ext cx="1449531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03195" indent="0" algn="ctr">
              <a:buNone/>
            </a:pPr>
            <a:r>
              <a:rPr lang="en-IN" sz="1600" b="1" dirty="0"/>
              <a:t>Key Objectives</a:t>
            </a:r>
          </a:p>
        </p:txBody>
      </p:sp>
    </p:spTree>
    <p:extLst>
      <p:ext uri="{BB962C8B-B14F-4D97-AF65-F5344CB8AC3E}">
        <p14:creationId xmlns:p14="http://schemas.microsoft.com/office/powerpoint/2010/main" val="1684503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DFFF5-DCE3-66AA-3465-7FE433644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11688-8295-F35F-7EF5-B108F3EE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902597-C57E-2652-FC51-3019AA742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61" y="0"/>
            <a:ext cx="9946242" cy="631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3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3B54-22B8-8085-B75D-1BA8581B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E59A13-89FD-8246-EC84-39EDD82BC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5573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>
                <a:latin typeface="+mj-lt"/>
              </a:rPr>
              <a:t>TECHNOLOGY STACK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4BBD3-CEE6-430D-FC20-7B996969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D43CD830-017F-752D-E4A5-AE6387E067BD}"/>
              </a:ext>
            </a:extLst>
          </p:cNvPr>
          <p:cNvSpPr txBox="1">
            <a:spLocks/>
          </p:cNvSpPr>
          <p:nvPr/>
        </p:nvSpPr>
        <p:spPr>
          <a:xfrm>
            <a:off x="363682" y="1438234"/>
            <a:ext cx="3293918" cy="17477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lnSpc>
                <a:spcPct val="150000"/>
              </a:lnSpc>
              <a:buNone/>
            </a:pPr>
            <a:r>
              <a:rPr lang="en-IN" sz="1600" b="1" dirty="0"/>
              <a:t>❄️ Snowflake</a:t>
            </a:r>
            <a:br>
              <a:rPr lang="en-IN" sz="1400" dirty="0"/>
            </a:br>
            <a:r>
              <a:rPr lang="en-IN" sz="1400" dirty="0"/>
              <a:t>Cloud data warehouse for curated healthcare data, SQL analytics, and governed query execution.</a:t>
            </a:r>
            <a:endParaRPr lang="en-US" sz="1400" b="1" kern="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56AFAE76-3CFF-79E8-79A5-D4544EF3E051}"/>
              </a:ext>
            </a:extLst>
          </p:cNvPr>
          <p:cNvSpPr txBox="1">
            <a:spLocks/>
          </p:cNvSpPr>
          <p:nvPr/>
        </p:nvSpPr>
        <p:spPr>
          <a:xfrm>
            <a:off x="4460263" y="3865418"/>
            <a:ext cx="3202200" cy="17477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lnSpc>
                <a:spcPct val="150000"/>
              </a:lnSpc>
              <a:buNone/>
            </a:pPr>
            <a:r>
              <a:rPr lang="en-IN" sz="1600" b="1" dirty="0"/>
              <a:t>📊 Google Sheets</a:t>
            </a:r>
            <a:br>
              <a:rPr lang="en-IN" sz="1400" dirty="0"/>
            </a:br>
            <a:r>
              <a:rPr lang="en-IN" sz="1400" dirty="0"/>
              <a:t>Lightweight backend audit log for user questions, generated SQL, timestamps, status, and execution information.</a:t>
            </a:r>
            <a:endParaRPr lang="en-US" sz="1400" b="1" kern="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981A5224-5549-D090-33BD-3AE44A1DBC13}"/>
              </a:ext>
            </a:extLst>
          </p:cNvPr>
          <p:cNvSpPr txBox="1">
            <a:spLocks/>
          </p:cNvSpPr>
          <p:nvPr/>
        </p:nvSpPr>
        <p:spPr>
          <a:xfrm>
            <a:off x="8492836" y="3865418"/>
            <a:ext cx="2940762" cy="17477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lnSpc>
                <a:spcPct val="150000"/>
              </a:lnSpc>
              <a:buNone/>
            </a:pPr>
            <a:r>
              <a:rPr lang="en-IN" sz="1600" b="1" dirty="0"/>
              <a:t>🐍 Python</a:t>
            </a:r>
            <a:br>
              <a:rPr lang="en-IN" sz="1400" dirty="0"/>
            </a:br>
            <a:r>
              <a:rPr lang="en-IN" sz="1400" dirty="0"/>
              <a:t>Application development, API integration, response handling, visualization logic, and Streamlit implementation.</a:t>
            </a:r>
            <a:endParaRPr lang="en-US" sz="1400" b="1" kern="0" dirty="0"/>
          </a:p>
        </p:txBody>
      </p: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AA9F0F55-6866-EF4C-A806-23FE6CE2654B}"/>
              </a:ext>
            </a:extLst>
          </p:cNvPr>
          <p:cNvSpPr txBox="1">
            <a:spLocks/>
          </p:cNvSpPr>
          <p:nvPr/>
        </p:nvSpPr>
        <p:spPr>
          <a:xfrm>
            <a:off x="8492836" y="1440268"/>
            <a:ext cx="2940762" cy="17477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lnSpc>
                <a:spcPct val="150000"/>
              </a:lnSpc>
              <a:buNone/>
            </a:pPr>
            <a:r>
              <a:rPr lang="en-IN" sz="1600" b="1" dirty="0"/>
              <a:t>✨ Google Gemini</a:t>
            </a:r>
            <a:br>
              <a:rPr lang="en-IN" sz="1600" dirty="0"/>
            </a:br>
            <a:r>
              <a:rPr lang="en-IN" sz="1400" dirty="0"/>
              <a:t>LLM powering natural-language understanding, reasoning, SQL generation, and analytical responses.</a:t>
            </a:r>
            <a:endParaRPr lang="en-US" sz="1600" b="1" kern="0" dirty="0"/>
          </a:p>
        </p:txBody>
      </p:sp>
      <p:sp>
        <p:nvSpPr>
          <p:cNvPr id="12" name="Text Placeholder 1">
            <a:extLst>
              <a:ext uri="{FF2B5EF4-FFF2-40B4-BE49-F238E27FC236}">
                <a16:creationId xmlns:a16="http://schemas.microsoft.com/office/drawing/2014/main" id="{AFDA3DB6-E6F2-E28C-53DD-F9E7CD5749E1}"/>
              </a:ext>
            </a:extLst>
          </p:cNvPr>
          <p:cNvSpPr txBox="1">
            <a:spLocks/>
          </p:cNvSpPr>
          <p:nvPr/>
        </p:nvSpPr>
        <p:spPr>
          <a:xfrm>
            <a:off x="4460264" y="1463084"/>
            <a:ext cx="3202199" cy="17477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lnSpc>
                <a:spcPct val="150000"/>
              </a:lnSpc>
              <a:buNone/>
            </a:pPr>
            <a:r>
              <a:rPr lang="en-IN" sz="1600" b="1" dirty="0"/>
              <a:t>🔗 n8n</a:t>
            </a:r>
            <a:br>
              <a:rPr lang="en-IN" sz="1400" dirty="0"/>
            </a:br>
            <a:r>
              <a:rPr lang="en-IN" sz="1400" dirty="0"/>
              <a:t>Agentic workflow orchestration, webhook/API layer, AI Agent, tool integration, and backend audit workflow.</a:t>
            </a:r>
            <a:endParaRPr lang="en-US" sz="1400" b="1" kern="0" dirty="0"/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AE2413A6-735D-89B0-C944-9CDADC313AE3}"/>
              </a:ext>
            </a:extLst>
          </p:cNvPr>
          <p:cNvSpPr txBox="1">
            <a:spLocks/>
          </p:cNvSpPr>
          <p:nvPr/>
        </p:nvSpPr>
        <p:spPr>
          <a:xfrm>
            <a:off x="363682" y="3865419"/>
            <a:ext cx="3293918" cy="174770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lnSpc>
                <a:spcPct val="150000"/>
              </a:lnSpc>
              <a:buNone/>
            </a:pPr>
            <a:r>
              <a:rPr lang="en-IN" sz="1600" b="1" dirty="0"/>
              <a:t>🖥️ Streamlit</a:t>
            </a:r>
            <a:br>
              <a:rPr lang="en-IN" sz="1400" dirty="0"/>
            </a:br>
            <a:r>
              <a:rPr lang="en-IN" sz="1400" dirty="0"/>
              <a:t>Interactive frontend for conversational healthcare analytics, tables, charts, and user interaction.</a:t>
            </a:r>
            <a:endParaRPr lang="en-US" sz="1400" b="1" kern="0" dirty="0"/>
          </a:p>
        </p:txBody>
      </p:sp>
    </p:spTree>
    <p:extLst>
      <p:ext uri="{BB962C8B-B14F-4D97-AF65-F5344CB8AC3E}">
        <p14:creationId xmlns:p14="http://schemas.microsoft.com/office/powerpoint/2010/main" val="83593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08074E4-ECB8-A0FD-33AD-D295D7A8F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304071"/>
            <a:ext cx="6302478" cy="3635516"/>
          </a:xfrm>
        </p:spPr>
        <p:txBody>
          <a:bodyPr>
            <a:normAutofit fontScale="92500" lnSpcReduction="10000"/>
          </a:bodyPr>
          <a:lstStyle/>
          <a:p>
            <a:pPr marL="186262" indent="0">
              <a:buNone/>
            </a:pPr>
            <a:endParaRPr lang="en-IN" dirty="0"/>
          </a:p>
          <a:p>
            <a:r>
              <a:rPr lang="en-IN" sz="1800" b="1" dirty="0"/>
              <a:t>Patients</a:t>
            </a:r>
            <a:r>
              <a:rPr lang="en-IN" b="1" dirty="0"/>
              <a:t> </a:t>
            </a:r>
            <a:br>
              <a:rPr lang="en-IN" dirty="0"/>
            </a:br>
            <a:r>
              <a:rPr lang="en-IN" sz="1400" dirty="0"/>
              <a:t>Patient demographics and identity information</a:t>
            </a:r>
            <a:br>
              <a:rPr lang="en-IN" sz="1400" dirty="0"/>
            </a:br>
            <a:r>
              <a:rPr lang="en-IN" sz="1400" dirty="0"/>
              <a:t>Patient ID • Birth Date • Gender • Demographic Attributes</a:t>
            </a:r>
          </a:p>
          <a:p>
            <a:pPr marL="203195" indent="0">
              <a:buNone/>
            </a:pPr>
            <a:r>
              <a:rPr lang="en-IN" sz="1400" dirty="0"/>
              <a:t> </a:t>
            </a:r>
            <a:endParaRPr lang="en-IN" dirty="0"/>
          </a:p>
          <a:p>
            <a:r>
              <a:rPr lang="en-IN" sz="1800" b="1" dirty="0"/>
              <a:t>Encounters</a:t>
            </a:r>
            <a:br>
              <a:rPr lang="en-IN" dirty="0"/>
            </a:br>
            <a:r>
              <a:rPr lang="en-IN" sz="1400" dirty="0"/>
              <a:t>Healthcare visits and encounter-level activity</a:t>
            </a:r>
            <a:br>
              <a:rPr lang="en-IN" sz="1400" dirty="0"/>
            </a:br>
            <a:r>
              <a:rPr lang="en-IN" sz="1400" dirty="0"/>
              <a:t>Encounter ID • Patient ID • Provider ID • Start/End DateTime • Encounter Class • Total Claim Amount </a:t>
            </a:r>
          </a:p>
          <a:p>
            <a:pPr marL="203195" indent="0">
              <a:buNone/>
            </a:pPr>
            <a:endParaRPr lang="en-IN" sz="1400" dirty="0"/>
          </a:p>
          <a:p>
            <a:r>
              <a:rPr lang="en-IN" sz="1800" b="1" dirty="0"/>
              <a:t>Providers</a:t>
            </a:r>
            <a:br>
              <a:rPr lang="en-IN" dirty="0"/>
            </a:br>
            <a:r>
              <a:rPr lang="en-IN" sz="1400" dirty="0"/>
              <a:t>Healthcare provider information</a:t>
            </a:r>
            <a:br>
              <a:rPr lang="en-IN" sz="1400" dirty="0"/>
            </a:br>
            <a:r>
              <a:rPr lang="en-IN" sz="1400" dirty="0"/>
              <a:t>Provider ID • Name • Gender • Specialty • Organization </a:t>
            </a:r>
          </a:p>
          <a:p>
            <a:pPr marL="203195" indent="0">
              <a:buNone/>
            </a:pPr>
            <a:endParaRPr lang="en-IN" sz="1400" dirty="0"/>
          </a:p>
          <a:p>
            <a:r>
              <a:rPr lang="en-IN" sz="1800" b="1" dirty="0"/>
              <a:t>Payers</a:t>
            </a:r>
            <a:br>
              <a:rPr lang="en-IN" dirty="0"/>
            </a:br>
            <a:r>
              <a:rPr lang="en-IN" sz="1400" dirty="0"/>
              <a:t>Insurance / coverage information</a:t>
            </a:r>
            <a:br>
              <a:rPr lang="en-IN" sz="1400" dirty="0"/>
            </a:br>
            <a:r>
              <a:rPr lang="en-IN" sz="1400" dirty="0"/>
              <a:t>Payer ID • Payer Name • Payer Type • Coverage Details </a:t>
            </a:r>
            <a:endParaRPr lang="en-IN" dirty="0"/>
          </a:p>
          <a:p>
            <a:endParaRPr lang="en-IN" sz="1400" dirty="0"/>
          </a:p>
          <a:p>
            <a:endParaRPr lang="en-IN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FAF410F9-D260-6854-C45D-92E3C9A3E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875071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/>
              <a:t>Dataset Architecture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C5703C-7E4A-1763-8E3B-76F648104A3A}"/>
              </a:ext>
            </a:extLst>
          </p:cNvPr>
          <p:cNvSpPr txBox="1"/>
          <p:nvPr/>
        </p:nvSpPr>
        <p:spPr>
          <a:xfrm>
            <a:off x="6605044" y="2675183"/>
            <a:ext cx="6017343" cy="2893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Organizations</a:t>
            </a:r>
            <a:br>
              <a:rPr lang="en-IN" sz="1867" dirty="0"/>
            </a:br>
            <a:r>
              <a:rPr lang="en-IN" sz="1300" dirty="0"/>
              <a:t>Healthcare organizations associated with providers</a:t>
            </a:r>
            <a:br>
              <a:rPr lang="en-IN" sz="1300" dirty="0"/>
            </a:br>
            <a:r>
              <a:rPr lang="en-IN" sz="1300" dirty="0"/>
              <a:t>Organization ID • Name • Address • City • State </a:t>
            </a:r>
          </a:p>
          <a:p>
            <a:endParaRPr lang="en-IN" sz="1867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Procedures</a:t>
            </a:r>
            <a:br>
              <a:rPr lang="en-IN" sz="1867" dirty="0"/>
            </a:br>
            <a:r>
              <a:rPr lang="en-IN" sz="1300" dirty="0"/>
              <a:t>Clinical procedures performed during encounters</a:t>
            </a:r>
            <a:br>
              <a:rPr lang="en-IN" sz="1300" dirty="0"/>
            </a:br>
            <a:r>
              <a:rPr lang="en-IN" sz="1300" dirty="0"/>
              <a:t>Procedure ID • Patient/Encounter ID • Procedure Description • Cost </a:t>
            </a:r>
          </a:p>
          <a:p>
            <a:endParaRPr lang="en-IN" sz="1867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b="1" dirty="0"/>
              <a:t>Conditions</a:t>
            </a:r>
            <a:br>
              <a:rPr lang="en-IN" sz="1867" dirty="0"/>
            </a:br>
            <a:r>
              <a:rPr lang="en-IN" sz="1300" dirty="0"/>
              <a:t>Diagnoses / medical conditions associated with patients and encounters</a:t>
            </a:r>
            <a:br>
              <a:rPr lang="en-IN" sz="1300" dirty="0"/>
            </a:br>
            <a:r>
              <a:rPr lang="en-IN" sz="1300" dirty="0"/>
              <a:t>Condition ID • Patient/Encounter ID • Condition Description </a:t>
            </a:r>
          </a:p>
          <a:p>
            <a:endParaRPr lang="en-IN" sz="1867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5E9744-C1B1-4F5D-6757-DC3917862452}"/>
              </a:ext>
            </a:extLst>
          </p:cNvPr>
          <p:cNvSpPr txBox="1"/>
          <p:nvPr/>
        </p:nvSpPr>
        <p:spPr>
          <a:xfrm>
            <a:off x="-34413" y="1289524"/>
            <a:ext cx="12260826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6262" indent="0">
              <a:buNone/>
            </a:pPr>
            <a:r>
              <a:rPr lang="en-IN" sz="1867" dirty="0"/>
              <a:t>The dataset follows a relational architecture where healthcare entities are connected through primary and foreign key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63531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78EFC-36F8-CA4E-FE52-1F06A26E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E6903AE-8981-52D3-06CB-C6CE83333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594" y="976316"/>
            <a:ext cx="8066811" cy="51702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4EFF6E-CE6F-E030-6F62-1A8D885C7F3A}"/>
              </a:ext>
            </a:extLst>
          </p:cNvPr>
          <p:cNvSpPr txBox="1"/>
          <p:nvPr/>
        </p:nvSpPr>
        <p:spPr>
          <a:xfrm>
            <a:off x="-1451378" y="0"/>
            <a:ext cx="15094753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Data Model</a:t>
            </a:r>
          </a:p>
        </p:txBody>
      </p:sp>
    </p:spTree>
    <p:extLst>
      <p:ext uri="{BB962C8B-B14F-4D97-AF65-F5344CB8AC3E}">
        <p14:creationId xmlns:p14="http://schemas.microsoft.com/office/powerpoint/2010/main" val="68373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12B4-3997-7885-4040-A9FFE07A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0C1702-AC51-2E9A-E1F6-14A958D3A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853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>
                <a:latin typeface="+mj-lt"/>
              </a:rPr>
              <a:t>WORKFLOW IMPLEMENTATION IN n8n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7F5AB-56BD-BB5F-BD0D-0BF09F74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23063B-7667-1FF0-53C2-851FE8944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9" y="1473876"/>
            <a:ext cx="5617919" cy="22680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1BDA20-EA20-78AF-2D56-D9FB29065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6" y="4457315"/>
            <a:ext cx="5664586" cy="17965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CB65A1-C5CF-FF55-D8E1-61AC3EC97DE6}"/>
              </a:ext>
            </a:extLst>
          </p:cNvPr>
          <p:cNvSpPr txBox="1"/>
          <p:nvPr/>
        </p:nvSpPr>
        <p:spPr>
          <a:xfrm>
            <a:off x="1580049" y="1104544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Main AI Agent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B4124-430B-48C4-7DD5-F9874C5A16D6}"/>
              </a:ext>
            </a:extLst>
          </p:cNvPr>
          <p:cNvSpPr txBox="1"/>
          <p:nvPr/>
        </p:nvSpPr>
        <p:spPr>
          <a:xfrm>
            <a:off x="1272208" y="4111307"/>
            <a:ext cx="3497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Healthcare SQL Tool workflow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85AA0-B5E6-3E01-F019-431FCDD45E44}"/>
              </a:ext>
            </a:extLst>
          </p:cNvPr>
          <p:cNvSpPr txBox="1"/>
          <p:nvPr/>
        </p:nvSpPr>
        <p:spPr>
          <a:xfrm>
            <a:off x="5940859" y="1739127"/>
            <a:ext cx="6156612" cy="4062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Workflow Execution:</a:t>
            </a:r>
          </a:p>
          <a:p>
            <a:pPr>
              <a:buNone/>
            </a:pPr>
            <a:endParaRPr lang="en-IN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Request Intake</a:t>
            </a:r>
            <a:br>
              <a:rPr lang="en-IN" sz="1200" dirty="0"/>
            </a:br>
            <a:r>
              <a:rPr lang="en-IN" sz="1200" dirty="0"/>
              <a:t>Streamlit sends the user's healthcare question and session ID to the n8n production webhook.</a:t>
            </a:r>
          </a:p>
          <a:p>
            <a:pPr>
              <a:buNone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AI Reasoning</a:t>
            </a:r>
            <a:br>
              <a:rPr lang="en-IN" sz="1200" dirty="0"/>
            </a:br>
            <a:r>
              <a:rPr lang="en-IN" sz="1200" dirty="0"/>
              <a:t>The AI Agent uses Gemini to interpret the question and determine the required analysis.</a:t>
            </a:r>
          </a:p>
          <a:p>
            <a:pPr>
              <a:buNone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Context Management</a:t>
            </a:r>
            <a:br>
              <a:rPr lang="en-IN" sz="1200" dirty="0"/>
            </a:br>
            <a:r>
              <a:rPr lang="en-IN" sz="1200" dirty="0"/>
              <a:t>Simple Memory supplies recent conversation context for follow-up questions.</a:t>
            </a:r>
          </a:p>
          <a:p>
            <a:pPr>
              <a:buNone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SQL Tool Invocation</a:t>
            </a:r>
            <a:br>
              <a:rPr lang="en-IN" sz="1200" dirty="0"/>
            </a:br>
            <a:r>
              <a:rPr lang="en-IN" sz="1200" dirty="0"/>
              <a:t>The agent invokes the Healthcare SQL Tool when database analysis is required.</a:t>
            </a:r>
          </a:p>
          <a:p>
            <a:pPr>
              <a:buNone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Query Governance</a:t>
            </a:r>
            <a:br>
              <a:rPr lang="en-IN" sz="1200" dirty="0"/>
            </a:br>
            <a:r>
              <a:rPr lang="en-IN" sz="1200" dirty="0"/>
              <a:t>SQL Rules Setting validates that the generated query is read-only and permitted.</a:t>
            </a:r>
          </a:p>
          <a:p>
            <a:pPr>
              <a:buNone/>
            </a:pPr>
            <a:endParaRPr lang="en-IN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/>
              <a:t>Audit &amp; Execution</a:t>
            </a:r>
            <a:br>
              <a:rPr lang="en-IN" sz="1200" dirty="0"/>
            </a:br>
            <a:r>
              <a:rPr lang="en-IN" sz="1200" dirty="0"/>
              <a:t>Execution details are logged and the approved query is executed against Snowflake.</a:t>
            </a:r>
          </a:p>
        </p:txBody>
      </p:sp>
    </p:spTree>
    <p:extLst>
      <p:ext uri="{BB962C8B-B14F-4D97-AF65-F5344CB8AC3E}">
        <p14:creationId xmlns:p14="http://schemas.microsoft.com/office/powerpoint/2010/main" val="389335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D5603-3F7C-E8BD-A647-38179A8DF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3708CF-261C-471B-8603-987C6EF16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94149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/>
              <a:t>HEALTHCARE ANALYTICS &amp; KPI FRAMEWORK</a:t>
            </a:r>
            <a:endParaRPr lang="en-IN" sz="36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437BF-1F24-994E-9EFA-CE0D1BA8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244DA-312B-002A-B274-A3F839AD0698}"/>
              </a:ext>
            </a:extLst>
          </p:cNvPr>
          <p:cNvSpPr txBox="1"/>
          <p:nvPr/>
        </p:nvSpPr>
        <p:spPr>
          <a:xfrm>
            <a:off x="326390" y="1355814"/>
            <a:ext cx="2843530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/>
            </a:lvl1pPr>
          </a:lstStyle>
          <a:p>
            <a:r>
              <a:rPr lang="en-IN" dirty="0"/>
              <a:t>Provider Metrics:-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Total Providers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Providers by Specialty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Provider Encounter Volume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Average Encounter Duration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Provider Efficiency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32482F-1375-11FC-2070-748AA3EA925E}"/>
              </a:ext>
            </a:extLst>
          </p:cNvPr>
          <p:cNvSpPr txBox="1"/>
          <p:nvPr/>
        </p:nvSpPr>
        <p:spPr>
          <a:xfrm>
            <a:off x="8216900" y="1355814"/>
            <a:ext cx="3566160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Encounter Metrics:-</a:t>
            </a:r>
          </a:p>
          <a:p>
            <a:pPr>
              <a:buNone/>
            </a:pPr>
            <a:endParaRPr lang="en-IN" sz="1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Total Encounters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Encounters by Encounter Type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Average Encounter Cost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Total Claim Amount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/>
              <a:t>Claim Amount per Encounter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BF8189-0504-B27E-18BD-0B9DFF164B15}"/>
              </a:ext>
            </a:extLst>
          </p:cNvPr>
          <p:cNvSpPr txBox="1"/>
          <p:nvPr/>
        </p:nvSpPr>
        <p:spPr>
          <a:xfrm>
            <a:off x="326390" y="3429000"/>
            <a:ext cx="292608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/>
            </a:lvl1pPr>
          </a:lstStyle>
          <a:p>
            <a:r>
              <a:rPr lang="en-IN" dirty="0"/>
              <a:t>Payer Metrics:-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Total Payers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Encounter Coverage by Payer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Claim Amount by Payer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Payer Contribution 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1B8FE1-4521-2BCC-D749-6B877EB0FED8}"/>
              </a:ext>
            </a:extLst>
          </p:cNvPr>
          <p:cNvSpPr txBox="1"/>
          <p:nvPr/>
        </p:nvSpPr>
        <p:spPr>
          <a:xfrm>
            <a:off x="8216900" y="3417917"/>
            <a:ext cx="356616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/>
            </a:lvl1pPr>
          </a:lstStyle>
          <a:p>
            <a:r>
              <a:rPr lang="en-IN" dirty="0"/>
              <a:t>Operational Metrics:-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Patient-to-Provider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Organizations with Active Encounters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Procedure Volume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0" dirty="0"/>
              <a:t>Condition / Diagnosis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EBDB9E-A9A8-55A7-56A4-C265A46EF35C}"/>
              </a:ext>
            </a:extLst>
          </p:cNvPr>
          <p:cNvSpPr txBox="1"/>
          <p:nvPr/>
        </p:nvSpPr>
        <p:spPr>
          <a:xfrm>
            <a:off x="3495040" y="1355814"/>
            <a:ext cx="4409440" cy="34470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buNone/>
              <a:defRPr sz="1400" b="1"/>
            </a:lvl1pPr>
          </a:lstStyle>
          <a:p>
            <a:pPr algn="ctr"/>
            <a:r>
              <a:rPr lang="en-IN" sz="2800" dirty="0"/>
              <a:t>Analytical Capabilities</a:t>
            </a:r>
          </a:p>
          <a:p>
            <a:pPr algn="ctr"/>
            <a:endParaRPr lang="en-IN" dirty="0"/>
          </a:p>
          <a:p>
            <a:pPr algn="ctr"/>
            <a:r>
              <a:rPr lang="en-IN" sz="1600" dirty="0"/>
              <a:t>Healthcare Data     </a:t>
            </a:r>
          </a:p>
          <a:p>
            <a:pPr algn="ctr"/>
            <a:r>
              <a:rPr lang="en-IN" sz="1600" dirty="0"/>
              <a:t>↓</a:t>
            </a:r>
          </a:p>
          <a:p>
            <a:pPr algn="ctr"/>
            <a:r>
              <a:rPr lang="en-IN" sz="1600" dirty="0"/>
              <a:t>KPI Calculation      </a:t>
            </a:r>
          </a:p>
          <a:p>
            <a:pPr algn="ctr"/>
            <a:r>
              <a:rPr lang="en-IN" sz="1600" dirty="0"/>
              <a:t>↓</a:t>
            </a:r>
          </a:p>
          <a:p>
            <a:pPr algn="ctr"/>
            <a:r>
              <a:rPr lang="en-IN" sz="1600" dirty="0"/>
              <a:t>Cross-Entity Analysis      </a:t>
            </a:r>
          </a:p>
          <a:p>
            <a:pPr algn="ctr"/>
            <a:r>
              <a:rPr lang="en-IN" sz="1600" dirty="0"/>
              <a:t>↓</a:t>
            </a:r>
          </a:p>
          <a:p>
            <a:pPr algn="ctr"/>
            <a:r>
              <a:rPr lang="en-IN" sz="1600" dirty="0"/>
              <a:t>Ranking &amp; Comparison     </a:t>
            </a:r>
          </a:p>
          <a:p>
            <a:pPr algn="ctr"/>
            <a:r>
              <a:rPr lang="en-IN" sz="1600" dirty="0"/>
              <a:t> ↓</a:t>
            </a:r>
          </a:p>
          <a:p>
            <a:pPr algn="ctr"/>
            <a:r>
              <a:rPr lang="en-IN" sz="1600" dirty="0"/>
              <a:t>Business Insights     </a:t>
            </a:r>
          </a:p>
          <a:p>
            <a:pPr algn="ctr"/>
            <a:r>
              <a:rPr lang="en-IN" sz="1600" dirty="0"/>
              <a:t> ↓</a:t>
            </a:r>
          </a:p>
          <a:p>
            <a:pPr algn="ctr"/>
            <a:r>
              <a:rPr lang="en-IN" sz="1600" dirty="0"/>
              <a:t>Visual Analytics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4B1995-AC2D-B5E8-8D57-9F3EB372E67B}"/>
              </a:ext>
            </a:extLst>
          </p:cNvPr>
          <p:cNvSpPr txBox="1"/>
          <p:nvPr/>
        </p:nvSpPr>
        <p:spPr>
          <a:xfrm>
            <a:off x="176530" y="5172055"/>
            <a:ext cx="116065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The platform converts raw healthcare records into operational, financial, provider, and payer-level insights through natural-language analytics.</a:t>
            </a:r>
          </a:p>
        </p:txBody>
      </p:sp>
    </p:spTree>
    <p:extLst>
      <p:ext uri="{BB962C8B-B14F-4D97-AF65-F5344CB8AC3E}">
        <p14:creationId xmlns:p14="http://schemas.microsoft.com/office/powerpoint/2010/main" val="2288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66BF7-F102-295A-01FC-D603E2FA1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60AE5C-43A1-16A1-3F1B-D1FA2D2C6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52055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/>
              <a:t>PROVIDER &amp; HEALTHCARE PERFORMANCE</a:t>
            </a:r>
            <a:endParaRPr lang="en-IN" sz="3600" dirty="0"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74C4C-3F69-7461-2AC0-1F6958C7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1AC5708F-C5A5-745B-B27E-ABE4FC9B8951}"/>
              </a:ext>
            </a:extLst>
          </p:cNvPr>
          <p:cNvSpPr txBox="1">
            <a:spLocks/>
          </p:cNvSpPr>
          <p:nvPr/>
        </p:nvSpPr>
        <p:spPr>
          <a:xfrm>
            <a:off x="-72736" y="1319054"/>
            <a:ext cx="6168736" cy="386456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2400" b="1" dirty="0"/>
              <a:t>Provider Performance</a:t>
            </a:r>
          </a:p>
          <a:p>
            <a:pPr marL="203195" indent="0">
              <a:buNone/>
            </a:pPr>
            <a:endParaRPr lang="en-IN" sz="1800" b="1" dirty="0"/>
          </a:p>
          <a:p>
            <a:pPr marL="203195" indent="0">
              <a:buNone/>
            </a:pPr>
            <a:r>
              <a:rPr lang="en-IN" sz="1600" b="1" dirty="0"/>
              <a:t>Specialty Analysis:-</a:t>
            </a:r>
            <a:br>
              <a:rPr lang="en-IN" sz="1600" b="1" dirty="0"/>
            </a:br>
            <a:endParaRPr lang="en-IN" sz="1600" dirty="0"/>
          </a:p>
          <a:p>
            <a:pPr lvl="0"/>
            <a:r>
              <a:rPr lang="en-IN" sz="1400" dirty="0"/>
              <a:t>Provider distribution by specialty </a:t>
            </a:r>
          </a:p>
          <a:p>
            <a:pPr lvl="0"/>
            <a:r>
              <a:rPr lang="en-IN" sz="1400" dirty="0"/>
              <a:t>Claim amount by specialty </a:t>
            </a:r>
          </a:p>
          <a:p>
            <a:pPr lvl="0"/>
            <a:r>
              <a:rPr lang="en-IN" sz="1400" dirty="0"/>
              <a:t>Encounter volume by specialty </a:t>
            </a:r>
          </a:p>
          <a:p>
            <a:pPr lvl="0"/>
            <a:r>
              <a:rPr lang="en-IN" sz="1400" dirty="0"/>
              <a:t>Average claim amount per encounter </a:t>
            </a:r>
          </a:p>
          <a:p>
            <a:pPr lvl="0"/>
            <a:endParaRPr lang="en-IN" sz="1800" dirty="0"/>
          </a:p>
          <a:p>
            <a:pPr marL="203195" indent="0">
              <a:buNone/>
            </a:pPr>
            <a:r>
              <a:rPr lang="en-IN" sz="1600" b="1" dirty="0"/>
              <a:t>Provider-Level Analysis:-</a:t>
            </a:r>
            <a:br>
              <a:rPr lang="en-IN" sz="1600" b="1" dirty="0"/>
            </a:br>
            <a:endParaRPr lang="en-IN" sz="1600" dirty="0"/>
          </a:p>
          <a:p>
            <a:pPr lvl="0"/>
            <a:r>
              <a:rPr lang="en-IN" sz="1400" dirty="0"/>
              <a:t>Encounter activity by provider </a:t>
            </a:r>
          </a:p>
          <a:p>
            <a:pPr lvl="0"/>
            <a:r>
              <a:rPr lang="en-IN" sz="1400" dirty="0"/>
              <a:t>Provider performance comparisons </a:t>
            </a:r>
          </a:p>
          <a:p>
            <a:pPr lvl="0"/>
            <a:r>
              <a:rPr lang="en-IN" sz="1400" dirty="0"/>
              <a:t>Provider contribution to overall claims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3FF181A-0D9F-8FC1-F619-94A9758CA069}"/>
              </a:ext>
            </a:extLst>
          </p:cNvPr>
          <p:cNvSpPr txBox="1">
            <a:spLocks/>
          </p:cNvSpPr>
          <p:nvPr/>
        </p:nvSpPr>
        <p:spPr>
          <a:xfrm>
            <a:off x="6096000" y="1319054"/>
            <a:ext cx="6096000" cy="386456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2400" b="1" dirty="0"/>
              <a:t>Payer &amp; Encounter Performance</a:t>
            </a:r>
          </a:p>
          <a:p>
            <a:pPr marL="203195" indent="0">
              <a:buNone/>
            </a:pPr>
            <a:endParaRPr lang="en-IN" sz="2400" b="1" dirty="0"/>
          </a:p>
          <a:p>
            <a:pPr marL="203195" indent="0">
              <a:buNone/>
            </a:pPr>
            <a:r>
              <a:rPr lang="en-IN" sz="1600" b="1" dirty="0"/>
              <a:t>Payer Analytics:-</a:t>
            </a:r>
          </a:p>
          <a:p>
            <a:pPr marL="203195" indent="0">
              <a:buNone/>
            </a:pPr>
            <a:endParaRPr lang="en-IN" sz="1800" dirty="0"/>
          </a:p>
          <a:p>
            <a:pPr lvl="0"/>
            <a:r>
              <a:rPr lang="en-IN" sz="1400" dirty="0"/>
              <a:t>Top payers by claim amount </a:t>
            </a:r>
          </a:p>
          <a:p>
            <a:pPr lvl="0"/>
            <a:r>
              <a:rPr lang="en-IN" sz="1400" dirty="0"/>
              <a:t>Encounter coverage by payer </a:t>
            </a:r>
          </a:p>
          <a:p>
            <a:pPr lvl="0"/>
            <a:r>
              <a:rPr lang="en-IN" sz="1400" dirty="0"/>
              <a:t>Payer contribution to healthcare spending </a:t>
            </a:r>
          </a:p>
          <a:p>
            <a:pPr lvl="0"/>
            <a:endParaRPr lang="en-IN" sz="1800" dirty="0"/>
          </a:p>
          <a:p>
            <a:pPr marL="203195" indent="0">
              <a:buNone/>
            </a:pPr>
            <a:r>
              <a:rPr lang="en-IN" sz="1600" b="1" dirty="0"/>
              <a:t>Encounter Analytics:-</a:t>
            </a:r>
          </a:p>
          <a:p>
            <a:pPr marL="203195" indent="0">
              <a:buNone/>
            </a:pPr>
            <a:endParaRPr lang="en-IN" sz="1800" dirty="0"/>
          </a:p>
          <a:p>
            <a:pPr lvl="0"/>
            <a:r>
              <a:rPr lang="en-IN" sz="1400" dirty="0"/>
              <a:t>Encounter volume by type </a:t>
            </a:r>
          </a:p>
          <a:p>
            <a:pPr lvl="0"/>
            <a:r>
              <a:rPr lang="en-IN" sz="1400" dirty="0"/>
              <a:t>Average encounter cost </a:t>
            </a:r>
          </a:p>
          <a:p>
            <a:pPr lvl="0"/>
            <a:r>
              <a:rPr lang="en-IN" sz="1400" dirty="0"/>
              <a:t>Claim amount and coverage relationships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7C6C3-F9D5-977C-4493-A9CE43A8C960}"/>
              </a:ext>
            </a:extLst>
          </p:cNvPr>
          <p:cNvSpPr txBox="1"/>
          <p:nvPr/>
        </p:nvSpPr>
        <p:spPr>
          <a:xfrm>
            <a:off x="637535" y="5326178"/>
            <a:ext cx="109169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Enables stakeholders to identify high-impact specialties, compare provider activity, understand payer contribution, and uncover operational and financial patterns across the healthcare ecosystem.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174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822A6-C868-28B2-4A5C-3B21A904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84E18D-168E-4F50-2E1E-CA8811F1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1998" cy="900862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4000" dirty="0">
                <a:latin typeface="+mj-lt"/>
              </a:rPr>
              <a:t>BUSINESS VALUE &amp; BENEFITS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F9511-5F76-A6B2-3FCD-23209FB1F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456045-201B-DBE0-D6D6-D28180A11128}"/>
              </a:ext>
            </a:extLst>
          </p:cNvPr>
          <p:cNvSpPr txBox="1"/>
          <p:nvPr/>
        </p:nvSpPr>
        <p:spPr>
          <a:xfrm>
            <a:off x="0" y="5403140"/>
            <a:ext cx="12191999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1600" b="1" dirty="0"/>
              <a:t>Business Impact:-</a:t>
            </a:r>
            <a:endParaRPr lang="en-IN" b="1" dirty="0"/>
          </a:p>
          <a:p>
            <a:pPr algn="ctr"/>
            <a:r>
              <a:rPr lang="en-IN" sz="1400" dirty="0"/>
              <a:t>Faster insight generation, lower manual analysis effort, and more accessible healthcare data-driven decision support.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7E4E7F49-28B3-7111-5C7B-F51B3847A3A2}"/>
              </a:ext>
            </a:extLst>
          </p:cNvPr>
          <p:cNvSpPr txBox="1">
            <a:spLocks/>
          </p:cNvSpPr>
          <p:nvPr/>
        </p:nvSpPr>
        <p:spPr>
          <a:xfrm>
            <a:off x="0" y="1213616"/>
            <a:ext cx="5844581" cy="3947658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1800" b="1" dirty="0"/>
              <a:t>Operational Benefits</a:t>
            </a:r>
          </a:p>
          <a:p>
            <a:pPr marL="203195" indent="0">
              <a:buNone/>
            </a:pPr>
            <a:endParaRPr lang="en-IN" sz="1400" b="1" dirty="0"/>
          </a:p>
          <a:p>
            <a:pPr marL="203195" indent="0">
              <a:buNone/>
            </a:pPr>
            <a:endParaRPr lang="en-IN" sz="1400" b="1" dirty="0"/>
          </a:p>
          <a:p>
            <a:r>
              <a:rPr lang="en-IN" sz="1400" b="1" dirty="0"/>
              <a:t>Faster Ad-Hoc Analysis</a:t>
            </a:r>
            <a:br>
              <a:rPr lang="en-IN" sz="1400" dirty="0"/>
            </a:br>
            <a:r>
              <a:rPr lang="en-IN" sz="1400" dirty="0"/>
              <a:t>Users can move from a business question to an analytical answer without manually writing SQL.</a:t>
            </a:r>
          </a:p>
          <a:p>
            <a:endParaRPr lang="en-IN" sz="1400" dirty="0"/>
          </a:p>
          <a:p>
            <a:r>
              <a:rPr lang="en-IN" sz="1400" b="1" dirty="0"/>
              <a:t>Reduced Analyst Effort</a:t>
            </a:r>
            <a:br>
              <a:rPr lang="en-IN" sz="1400" dirty="0"/>
            </a:br>
            <a:r>
              <a:rPr lang="en-IN" sz="1400" dirty="0"/>
              <a:t>Automates query generation, execution, and result interpretation.</a:t>
            </a:r>
          </a:p>
          <a:p>
            <a:endParaRPr lang="en-IN" sz="1400" dirty="0"/>
          </a:p>
          <a:p>
            <a:r>
              <a:rPr lang="en-IN" sz="1400" b="1" dirty="0"/>
              <a:t>Cross-Functional Analytics</a:t>
            </a:r>
            <a:br>
              <a:rPr lang="en-IN" sz="1400" dirty="0"/>
            </a:br>
            <a:r>
              <a:rPr lang="en-IN" sz="1400" dirty="0"/>
              <a:t>Combines provider, encounter, payer, patient, procedure, and condition data.</a:t>
            </a:r>
          </a:p>
          <a:p>
            <a:endParaRPr lang="en-IN" sz="1400" dirty="0"/>
          </a:p>
          <a:p>
            <a:r>
              <a:rPr lang="en-IN" sz="1400" b="1" dirty="0"/>
              <a:t>Faster Follow-Up Analysis</a:t>
            </a:r>
            <a:br>
              <a:rPr lang="en-IN" sz="1400" dirty="0"/>
            </a:br>
            <a:r>
              <a:rPr lang="en-IN" sz="1400" dirty="0"/>
              <a:t>Conversational context allows users to continue analysis without repeatedly restating the problem.</a:t>
            </a:r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35773176-71D4-48F4-28BD-3C567BC5E784}"/>
              </a:ext>
            </a:extLst>
          </p:cNvPr>
          <p:cNvSpPr txBox="1">
            <a:spLocks/>
          </p:cNvSpPr>
          <p:nvPr/>
        </p:nvSpPr>
        <p:spPr>
          <a:xfrm>
            <a:off x="5844581" y="1213616"/>
            <a:ext cx="6347419" cy="3947658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1800" b="1" dirty="0"/>
              <a:t>Strategic Benefits</a:t>
            </a:r>
          </a:p>
          <a:p>
            <a:pPr marL="203195" indent="0">
              <a:buNone/>
            </a:pPr>
            <a:endParaRPr lang="en-IN" sz="1400" b="1" dirty="0"/>
          </a:p>
          <a:p>
            <a:pPr marL="203195" indent="0">
              <a:buNone/>
            </a:pPr>
            <a:endParaRPr lang="en-IN" sz="1400" b="1" dirty="0"/>
          </a:p>
          <a:p>
            <a:r>
              <a:rPr lang="en-IN" sz="1400" b="1" dirty="0"/>
              <a:t>Self-Service Healthcare Analytics</a:t>
            </a:r>
            <a:br>
              <a:rPr lang="en-IN" sz="1400" dirty="0"/>
            </a:br>
            <a:r>
              <a:rPr lang="en-IN" sz="1400" dirty="0"/>
              <a:t>Enables non-technical stakeholders to interact with analytical data more easily.</a:t>
            </a:r>
          </a:p>
          <a:p>
            <a:pPr marL="203195" indent="0">
              <a:buNone/>
            </a:pPr>
            <a:endParaRPr lang="en-IN" sz="1400" dirty="0"/>
          </a:p>
          <a:p>
            <a:r>
              <a:rPr lang="en-IN" sz="1400" b="1" dirty="0"/>
              <a:t>Governed AI Adoption</a:t>
            </a:r>
            <a:br>
              <a:rPr lang="en-IN" sz="1400" dirty="0"/>
            </a:br>
            <a:r>
              <a:rPr lang="en-IN" sz="1400" dirty="0"/>
              <a:t>AI is connected to a curated schema with SQL validation and controlled execution.</a:t>
            </a:r>
          </a:p>
          <a:p>
            <a:pPr marL="203195" indent="0">
              <a:buNone/>
            </a:pPr>
            <a:endParaRPr lang="en-IN" sz="1400" dirty="0"/>
          </a:p>
          <a:p>
            <a:r>
              <a:rPr lang="en-IN" sz="1400" b="1" dirty="0"/>
              <a:t>Scalable Architecture</a:t>
            </a:r>
            <a:br>
              <a:rPr lang="en-IN" sz="1400" dirty="0"/>
            </a:br>
            <a:r>
              <a:rPr lang="en-IN" sz="1400" dirty="0"/>
              <a:t>The reusable AI Agent + SQL Tool pattern can be extended to other datasets and domains.</a:t>
            </a:r>
          </a:p>
          <a:p>
            <a:pPr marL="203195" indent="0">
              <a:buNone/>
            </a:pPr>
            <a:endParaRPr lang="en-IN" sz="1400" dirty="0"/>
          </a:p>
          <a:p>
            <a:r>
              <a:rPr lang="en-IN" sz="1400" b="1" dirty="0"/>
              <a:t>Improved Decision Support</a:t>
            </a:r>
            <a:br>
              <a:rPr lang="en-IN" sz="1400" dirty="0"/>
            </a:br>
            <a:r>
              <a:rPr lang="en-IN" sz="1400" dirty="0"/>
              <a:t>Transforms raw healthcare records into understandable business insights and visual comparisons.</a:t>
            </a:r>
          </a:p>
        </p:txBody>
      </p:sp>
    </p:spTree>
    <p:extLst>
      <p:ext uri="{BB962C8B-B14F-4D97-AF65-F5344CB8AC3E}">
        <p14:creationId xmlns:p14="http://schemas.microsoft.com/office/powerpoint/2010/main" val="2950539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0DE67-128E-37CB-B995-E58A8191C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800" y="1952285"/>
            <a:ext cx="11428400" cy="12560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AI Workflow</a:t>
            </a:r>
            <a:br>
              <a:rPr lang="en-US" sz="4400" dirty="0">
                <a:solidFill>
                  <a:schemeClr val="tx1"/>
                </a:solidFill>
              </a:rPr>
            </a:br>
            <a:r>
              <a:rPr lang="en-US" sz="3100" b="0" dirty="0">
                <a:solidFill>
                  <a:schemeClr val="tx1"/>
                </a:solidFill>
              </a:rPr>
              <a:t>Demonstration of how the Agentic AI Work</a:t>
            </a:r>
            <a:endParaRPr lang="en-IN" sz="4400" b="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F2BA5-E816-E098-67F1-E50C78355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92500" lnSpcReduction="10000"/>
          </a:bodyPr>
          <a:lstStyle/>
          <a:p>
            <a:fld id="{00000000-1234-1234-1234-123412341234}" type="slidenum">
              <a:rPr lang="en" smtClean="0"/>
              <a:pPr/>
              <a:t>14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99966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47C943-533D-2258-BF6A-C49AD1F78323}"/>
              </a:ext>
            </a:extLst>
          </p:cNvPr>
          <p:cNvSpPr txBox="1"/>
          <p:nvPr/>
        </p:nvSpPr>
        <p:spPr>
          <a:xfrm>
            <a:off x="0" y="0"/>
            <a:ext cx="12192000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Step 1 - Ask a Question</a:t>
            </a:r>
            <a:br>
              <a:rPr lang="en-IN" sz="1200" dirty="0"/>
            </a:br>
            <a:r>
              <a:rPr lang="en-IN" sz="1400" dirty="0"/>
              <a:t>Natural-language healthcare query through the Streamlit AI Assistant</a:t>
            </a:r>
            <a:r>
              <a:rPr lang="en-IN" sz="1200" dirty="0"/>
              <a:t>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17078F-751E-DC68-4093-B6A70F9AF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192" y="912565"/>
            <a:ext cx="9797613" cy="461094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ABADF6F-9E69-FF5E-9432-C118D23A7F6F}"/>
              </a:ext>
            </a:extLst>
          </p:cNvPr>
          <p:cNvSpPr txBox="1"/>
          <p:nvPr/>
        </p:nvSpPr>
        <p:spPr>
          <a:xfrm>
            <a:off x="0" y="562226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You can either choose the questions from left panel’s suggested questions, </a:t>
            </a:r>
          </a:p>
          <a:p>
            <a:pPr algn="ctr"/>
            <a:r>
              <a:rPr lang="en-US" b="1" dirty="0"/>
              <a:t>or you can type your question below in the typing bar </a:t>
            </a:r>
            <a:r>
              <a:rPr lang="en-US" b="1" dirty="0" err="1"/>
              <a:t>bar</a:t>
            </a:r>
            <a:r>
              <a:rPr lang="en-US" b="1" dirty="0"/>
              <a:t> for the answer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858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A76B7A5-5B6C-400B-B1A9-FAFB984EB08D}"/>
              </a:ext>
            </a:extLst>
          </p:cNvPr>
          <p:cNvSpPr txBox="1"/>
          <p:nvPr/>
        </p:nvSpPr>
        <p:spPr>
          <a:xfrm>
            <a:off x="0" y="0"/>
            <a:ext cx="12192000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Step 2 - AI Analysis</a:t>
            </a:r>
            <a:br>
              <a:rPr lang="en-IN" dirty="0"/>
            </a:br>
            <a:r>
              <a:rPr lang="en-IN" sz="1400" dirty="0"/>
              <a:t>n8n orchestrates the AI agent, conversational memory, SQL validation, and Snowflake execution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AFB1A-0A59-CF5D-4DC7-8CBD9DB58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5" y="950614"/>
            <a:ext cx="5412836" cy="21853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EF69E8-C80D-D078-952E-354024EEF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791" y="2405630"/>
            <a:ext cx="6535882" cy="20728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9B61B9-88D7-FE0C-9A6A-0EBE7ED01D92}"/>
              </a:ext>
            </a:extLst>
          </p:cNvPr>
          <p:cNvSpPr txBox="1"/>
          <p:nvPr/>
        </p:nvSpPr>
        <p:spPr>
          <a:xfrm>
            <a:off x="5642265" y="950614"/>
            <a:ext cx="61566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AI Agent Orchestration:-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The n8n AI Agent interprets the healthcare question, uses Gemini for reasoning, maintains conversational context through memory, and invokes the Healthcare SQL Tool when data retrieval is required.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3624C-498A-4ECD-E27A-9ECCCE8D4158}"/>
              </a:ext>
            </a:extLst>
          </p:cNvPr>
          <p:cNvSpPr txBox="1"/>
          <p:nvPr/>
        </p:nvSpPr>
        <p:spPr>
          <a:xfrm>
            <a:off x="1" y="3245031"/>
            <a:ext cx="541283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400" b="1" dirty="0"/>
              <a:t>Governed SQL Execution:-</a:t>
            </a:r>
          </a:p>
          <a:p>
            <a:pPr>
              <a:buNone/>
            </a:pPr>
            <a:endParaRPr lang="en-IN" sz="1400" dirty="0"/>
          </a:p>
          <a:p>
            <a:pPr>
              <a:buNone/>
            </a:pPr>
            <a:r>
              <a:rPr lang="en-IN" sz="1400" dirty="0"/>
              <a:t>The SQL Tool validates the generated query, records the execution for auditability, and executes approved read-only SQL against the curated Snowflake healthcare database.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D919641F-E156-3BC2-263D-174C53230138}"/>
              </a:ext>
            </a:extLst>
          </p:cNvPr>
          <p:cNvSpPr/>
          <p:nvPr/>
        </p:nvSpPr>
        <p:spPr>
          <a:xfrm>
            <a:off x="4125191" y="2592542"/>
            <a:ext cx="1849582" cy="652489"/>
          </a:xfrm>
          <a:prstGeom prst="arc">
            <a:avLst>
              <a:gd name="adj1" fmla="val 16200000"/>
              <a:gd name="adj2" fmla="val 81095"/>
            </a:avLst>
          </a:prstGeom>
          <a:ln>
            <a:solidFill>
              <a:srgbClr val="2CB2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E10121-3AC4-FAC4-A700-87E4B002DAEC}"/>
              </a:ext>
            </a:extLst>
          </p:cNvPr>
          <p:cNvSpPr txBox="1"/>
          <p:nvPr/>
        </p:nvSpPr>
        <p:spPr>
          <a:xfrm>
            <a:off x="0" y="5935743"/>
            <a:ext cx="121920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Agentic flow: Understand → Remember → Validate → Query → Return Insight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5A072F-A96E-28C9-59B5-85CBC55E962E}"/>
              </a:ext>
            </a:extLst>
          </p:cNvPr>
          <p:cNvSpPr txBox="1"/>
          <p:nvPr/>
        </p:nvSpPr>
        <p:spPr>
          <a:xfrm>
            <a:off x="0" y="4887370"/>
            <a:ext cx="3835978" cy="1046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Natural Language → SQL</a:t>
            </a:r>
          </a:p>
          <a:p>
            <a:pPr>
              <a:buNone/>
            </a:pPr>
            <a:br>
              <a:rPr lang="en-IN" dirty="0"/>
            </a:br>
            <a:r>
              <a:rPr lang="en-IN" sz="1400" dirty="0"/>
              <a:t>Gemini translates business questions into analytical queries.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0FB6B0-C996-7944-0263-69D8D0A4D844}"/>
              </a:ext>
            </a:extLst>
          </p:cNvPr>
          <p:cNvSpPr txBox="1"/>
          <p:nvPr/>
        </p:nvSpPr>
        <p:spPr>
          <a:xfrm>
            <a:off x="8356022" y="4854659"/>
            <a:ext cx="3835978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Governed Data Access</a:t>
            </a:r>
          </a:p>
          <a:p>
            <a:pPr>
              <a:buNone/>
            </a:pPr>
            <a:br>
              <a:rPr lang="en-IN" sz="1800" dirty="0"/>
            </a:br>
            <a:r>
              <a:rPr lang="en-IN" sz="1400" dirty="0"/>
              <a:t>Only validated read-only queries reach Snowflake.</a:t>
            </a:r>
            <a:endParaRPr lang="en-IN" sz="1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49565C-F61F-2990-12CE-26963CA37674}"/>
              </a:ext>
            </a:extLst>
          </p:cNvPr>
          <p:cNvSpPr txBox="1"/>
          <p:nvPr/>
        </p:nvSpPr>
        <p:spPr>
          <a:xfrm>
            <a:off x="3835978" y="4855540"/>
            <a:ext cx="4520044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Context-Aware Analysis</a:t>
            </a:r>
          </a:p>
          <a:p>
            <a:pPr>
              <a:buNone/>
            </a:pPr>
            <a:br>
              <a:rPr lang="en-IN" sz="1800" dirty="0"/>
            </a:br>
            <a:r>
              <a:rPr lang="en-IN" sz="1400" dirty="0"/>
              <a:t>Simple Memory preserves conversational context for follow-up questions.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528071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C1BF1A-F931-4888-0FCD-5AE0A73A1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3AFF6-0C9D-FAE1-1426-35F10C39A89C}"/>
              </a:ext>
            </a:extLst>
          </p:cNvPr>
          <p:cNvSpPr txBox="1"/>
          <p:nvPr/>
        </p:nvSpPr>
        <p:spPr>
          <a:xfrm>
            <a:off x="0" y="0"/>
            <a:ext cx="12293600" cy="6771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r>
              <a:rPr lang="en-IN" sz="2400" dirty="0"/>
              <a:t>Step 3 - Insight Delivery</a:t>
            </a:r>
            <a:br>
              <a:rPr lang="en-IN" dirty="0"/>
            </a:br>
            <a:r>
              <a:rPr lang="en-IN" sz="1400" b="0" dirty="0"/>
              <a:t>The application converts validated healthcare query results into clear answers, tables, and visual insights.</a:t>
            </a:r>
            <a:endParaRPr lang="en-IN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483C0-DB36-5269-CCE1-2E7C2DDCDB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16" y="840582"/>
            <a:ext cx="4106486" cy="10156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950D9C-F10C-7E26-4A86-77386DE54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07" y="4543090"/>
            <a:ext cx="4907839" cy="15101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FDE00A2-2706-CAB0-EF3E-A852DFD3A5E1}"/>
              </a:ext>
            </a:extLst>
          </p:cNvPr>
          <p:cNvSpPr txBox="1"/>
          <p:nvPr/>
        </p:nvSpPr>
        <p:spPr>
          <a:xfrm>
            <a:off x="590497" y="2037466"/>
            <a:ext cx="3968105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Natural-Language Query:-</a:t>
            </a:r>
          </a:p>
          <a:p>
            <a:pPr algn="ctr">
              <a:buNone/>
            </a:pPr>
            <a:endParaRPr lang="en-IN" sz="1400" dirty="0"/>
          </a:p>
          <a:p>
            <a:pPr algn="ctr">
              <a:buNone/>
            </a:pPr>
            <a:r>
              <a:rPr lang="en-IN" sz="1200" dirty="0"/>
              <a:t>Users can ask healthcare questions in plain language and receive direct analytical answers from the assistant.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4231AC-A88C-C48E-682D-5B53A7E695D4}"/>
              </a:ext>
            </a:extLst>
          </p:cNvPr>
          <p:cNvSpPr txBox="1"/>
          <p:nvPr/>
        </p:nvSpPr>
        <p:spPr>
          <a:xfrm>
            <a:off x="6392350" y="5182927"/>
            <a:ext cx="526452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/>
              <a:t>Visual &amp; Analytical Insight:-</a:t>
            </a:r>
          </a:p>
          <a:p>
            <a:pPr algn="ctr"/>
            <a:endParaRPr lang="en-IN" sz="1600" dirty="0"/>
          </a:p>
          <a:p>
            <a:pPr algn="ctr"/>
            <a:r>
              <a:rPr lang="en-IN" sz="1400" dirty="0"/>
              <a:t>Comparative and ranking questions return structured results that can be presented as tables and visual insights.</a:t>
            </a:r>
            <a:endParaRPr lang="en-IN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58AE6C-9026-43C8-0648-C42E785FCC34}"/>
              </a:ext>
            </a:extLst>
          </p:cNvPr>
          <p:cNvSpPr txBox="1"/>
          <p:nvPr/>
        </p:nvSpPr>
        <p:spPr>
          <a:xfrm>
            <a:off x="84155" y="3302398"/>
            <a:ext cx="4980791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400" b="1" dirty="0"/>
              <a:t>Domain Guardrails:-</a:t>
            </a:r>
          </a:p>
          <a:p>
            <a:pPr algn="ctr">
              <a:buNone/>
            </a:pPr>
            <a:endParaRPr lang="en-IN" sz="1400" dirty="0"/>
          </a:p>
          <a:p>
            <a:pPr algn="ctr">
              <a:buNone/>
            </a:pPr>
            <a:r>
              <a:rPr lang="en-IN" sz="1200" dirty="0"/>
              <a:t>The assistant is restricted to the healthcare analytics domain and gracefully handles out-of-scope questions without fabricating an answer.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732ECF-F5A6-07A3-26F0-3ED7C4232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810726"/>
            <a:ext cx="5857224" cy="4238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8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0037-C33D-FF80-0DB5-BC1FACAF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C9C8BB-F11E-67E8-E464-500BBA25A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559" y="0"/>
            <a:ext cx="10882882" cy="1137600"/>
          </a:xfrm>
        </p:spPr>
        <p:txBody>
          <a:bodyPr/>
          <a:lstStyle/>
          <a:p>
            <a:r>
              <a:rPr lang="en-IN" sz="3600" dirty="0"/>
              <a:t>LIVE DEMONSTRATION &amp; PROJECT RESOURCES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39794-95D4-63A5-1AB3-B67BCB21D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B97B116E-209A-26B3-67E6-FF25E9F99ADE}"/>
              </a:ext>
            </a:extLst>
          </p:cNvPr>
          <p:cNvSpPr txBox="1">
            <a:spLocks/>
          </p:cNvSpPr>
          <p:nvPr/>
        </p:nvSpPr>
        <p:spPr>
          <a:xfrm>
            <a:off x="654559" y="1372838"/>
            <a:ext cx="5648553" cy="3864564"/>
          </a:xfrm>
          <a:prstGeom prst="rect">
            <a:avLst/>
          </a:prstGeom>
          <a:ln>
            <a:noFill/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1800" b="1" dirty="0"/>
              <a:t>Project Resources</a:t>
            </a:r>
          </a:p>
          <a:p>
            <a:pPr marL="203195" indent="0">
              <a:buNone/>
            </a:pPr>
            <a:endParaRPr lang="en-IN" sz="1700" b="1" dirty="0"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700" dirty="0">
                <a:ea typeface="Calibri" panose="020F0502020204030204" pitchFamily="34" charset="0"/>
              </a:rPr>
              <a:t>Web Form</a:t>
            </a:r>
          </a:p>
          <a:p>
            <a:pPr marL="812780" lvl="1" indent="0">
              <a:lnSpc>
                <a:spcPct val="150000"/>
              </a:lnSpc>
              <a:buNone/>
            </a:pPr>
            <a:r>
              <a:rPr lang="en-IN" dirty="0">
                <a:hlinkClick r:id="rId2"/>
              </a:rPr>
              <a:t>AI Healthcare Analytics · </a:t>
            </a:r>
            <a:r>
              <a:rPr lang="en-IN">
                <a:hlinkClick r:id="rId2"/>
              </a:rPr>
              <a:t>Streamlit</a:t>
            </a:r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700" dirty="0">
                <a:ea typeface="Calibri" panose="020F0502020204030204" pitchFamily="34" charset="0"/>
              </a:rPr>
              <a:t>GitHub Repository</a:t>
            </a:r>
          </a:p>
          <a:p>
            <a:pPr marL="812780" lvl="1" indent="0">
              <a:lnSpc>
                <a:spcPct val="150000"/>
              </a:lnSpc>
              <a:buNone/>
            </a:pPr>
            <a:r>
              <a:rPr lang="en-IN" dirty="0" err="1">
                <a:hlinkClick r:id="rId3"/>
              </a:rPr>
              <a:t>Github</a:t>
            </a:r>
            <a:r>
              <a:rPr lang="en-IN" dirty="0">
                <a:hlinkClick r:id="rId3"/>
              </a:rPr>
              <a:t> Link</a:t>
            </a:r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700" dirty="0">
                <a:ea typeface="Calibri" panose="020F0502020204030204" pitchFamily="34" charset="0"/>
              </a:rPr>
              <a:t>KPI Repository (Google Sheets)</a:t>
            </a:r>
          </a:p>
          <a:p>
            <a:pPr marL="812780" lvl="1" indent="0">
              <a:lnSpc>
                <a:spcPct val="150000"/>
              </a:lnSpc>
              <a:buNone/>
            </a:pPr>
            <a:r>
              <a:rPr lang="en-IN" dirty="0">
                <a:hlinkClick r:id="rId4"/>
              </a:rPr>
              <a:t>Healthcare AI Query Log - Google Sheets</a:t>
            </a:r>
            <a:endParaRPr lang="en-IN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8D3ED5-9E3C-66FD-9776-9DE4B6E03DE1}"/>
              </a:ext>
            </a:extLst>
          </p:cNvPr>
          <p:cNvSpPr txBox="1"/>
          <p:nvPr/>
        </p:nvSpPr>
        <p:spPr>
          <a:xfrm>
            <a:off x="844647" y="5485162"/>
            <a:ext cx="1091692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outputs shown in this project are generated automatically through the deployed n8n workflow and can be accessed using the provided project resources.</a:t>
            </a:r>
            <a:endParaRPr lang="en-IN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24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F80C-A74C-B980-73D4-D296A9BB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D5FCAD-7337-B160-49E7-BDD0C6960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2080" y="0"/>
            <a:ext cx="12324080" cy="853440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IN" sz="3200" dirty="0">
                <a:latin typeface="+mj-lt"/>
              </a:rPr>
              <a:t>CONCLUSION &amp; KEY ACHIEVEMENTS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09E52-2BE3-C55B-4E17-DFFF6FEFA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0E6-33B2-49CF-A736-7C25316E718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FD9E7C-7E64-38CB-C97F-C7BA739098B6}"/>
              </a:ext>
            </a:extLst>
          </p:cNvPr>
          <p:cNvSpPr txBox="1"/>
          <p:nvPr/>
        </p:nvSpPr>
        <p:spPr>
          <a:xfrm>
            <a:off x="637535" y="5466515"/>
            <a:ext cx="109169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project demonstrates how agentic AI can make governed healthcare analytics more conversational, accessible, and efficient without replacing the underlying analytical data platform.</a:t>
            </a:r>
            <a:endParaRPr lang="en-IN" sz="1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D1A18DB-B10F-2872-2B5D-9ED3DB2B1216}"/>
              </a:ext>
            </a:extLst>
          </p:cNvPr>
          <p:cNvSpPr txBox="1">
            <a:spLocks/>
          </p:cNvSpPr>
          <p:nvPr/>
        </p:nvSpPr>
        <p:spPr>
          <a:xfrm>
            <a:off x="0" y="1379805"/>
            <a:ext cx="6096000" cy="386456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2400" b="1" dirty="0"/>
              <a:t>Successfully Developed</a:t>
            </a:r>
          </a:p>
          <a:p>
            <a:pPr marL="203195" indent="0">
              <a:buNone/>
            </a:pPr>
            <a:endParaRPr lang="en-US" sz="1700" b="1" kern="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AI Healthcare Analytics Assistant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Agentic AI Workflow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Governed Healthcare Analytics Layer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Conversational Context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Dynamic Analytical Responses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End-to-End Application</a:t>
            </a:r>
            <a:endParaRPr lang="en-US" sz="1700" dirty="0"/>
          </a:p>
        </p:txBody>
      </p:sp>
      <p:sp>
        <p:nvSpPr>
          <p:cNvPr id="21" name="Text Placeholder 1">
            <a:extLst>
              <a:ext uri="{FF2B5EF4-FFF2-40B4-BE49-F238E27FC236}">
                <a16:creationId xmlns:a16="http://schemas.microsoft.com/office/drawing/2014/main" id="{76E68E87-60D9-E557-666A-4B3DD22AE737}"/>
              </a:ext>
            </a:extLst>
          </p:cNvPr>
          <p:cNvSpPr txBox="1">
            <a:spLocks/>
          </p:cNvSpPr>
          <p:nvPr/>
        </p:nvSpPr>
        <p:spPr>
          <a:xfrm>
            <a:off x="6095999" y="1379805"/>
            <a:ext cx="6095999" cy="3864564"/>
          </a:xfrm>
          <a:prstGeom prst="rect">
            <a:avLst/>
          </a:prstGeom>
          <a:ln>
            <a:solidFill>
              <a:schemeClr val="tx1"/>
            </a:solidFill>
          </a:ln>
          <a:effectLst/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09585" marR="0" lvl="0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333" b="0" i="0" u="none" strike="noStrike" cap="none">
                <a:solidFill>
                  <a:srgbClr val="000000"/>
                </a:solidFill>
                <a:latin typeface="Calibri" panose="020F0502020204030204" pitchFamily="34" charset="0"/>
                <a:ea typeface="Raleway" pitchFamily="2" charset="0"/>
                <a:cs typeface="Calibri" panose="020F0502020204030204" pitchFamily="34" charset="0"/>
                <a:sym typeface="Arial"/>
              </a:defRPr>
            </a:lvl1pPr>
            <a:lvl2pPr marL="1219170" marR="0" lvl="1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marR="0" lvl="2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marR="0" lvl="3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marR="0" lvl="4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marR="0" lvl="5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4267093" marR="0" lvl="6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876678" marR="0" lvl="7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486263" marR="0" lvl="8" indent="-4063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03195" indent="0">
              <a:buNone/>
            </a:pPr>
            <a:r>
              <a:rPr lang="en-IN" sz="2400" b="1" dirty="0"/>
              <a:t>Business Outcomes Delivered</a:t>
            </a:r>
          </a:p>
          <a:p>
            <a:pPr marL="203195" indent="0">
              <a:buNone/>
            </a:pPr>
            <a:endParaRPr lang="en-US" sz="1700" b="1" kern="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Faster Access to Healthcare Insights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Reduced Manual Analytical Effort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Self-Service Data Exploration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Governed AI Adoption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/>
              <a:t>Improved Decision Support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700" dirty="0"/>
              <a:t>Data-Driven Decision Support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603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B4CE17-EBBE-C8C5-CB0E-E6755F5559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17408</TotalTime>
  <Words>1619</Words>
  <Application>Microsoft Office PowerPoint</Application>
  <PresentationFormat>Widescreen</PresentationFormat>
  <Paragraphs>258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Open Sans</vt:lpstr>
      <vt:lpstr>PT Sans Narrow</vt:lpstr>
      <vt:lpstr>Raleway</vt:lpstr>
      <vt:lpstr>Wingdings</vt:lpstr>
      <vt:lpstr>Tropic</vt:lpstr>
      <vt:lpstr>PowerPoint Presentation</vt:lpstr>
      <vt:lpstr>AGENDA</vt:lpstr>
      <vt:lpstr>BUSINESS PROBLEM</vt:lpstr>
      <vt:lpstr>Business Need</vt:lpstr>
      <vt:lpstr>PROJECT OBJECTIVES</vt:lpstr>
      <vt:lpstr>PowerPoint Presentation</vt:lpstr>
      <vt:lpstr>TECHNOLOGY STACK</vt:lpstr>
      <vt:lpstr>Dataset Architecture</vt:lpstr>
      <vt:lpstr>PowerPoint Presentation</vt:lpstr>
      <vt:lpstr>WORKFLOW IMPLEMENTATION IN n8n</vt:lpstr>
      <vt:lpstr>HEALTHCARE ANALYTICS &amp; KPI FRAMEWORK</vt:lpstr>
      <vt:lpstr>PROVIDER &amp; HEALTHCARE PERFORMANCE</vt:lpstr>
      <vt:lpstr>BUSINESS VALUE &amp; BENEFITS</vt:lpstr>
      <vt:lpstr>AI Workflow Demonstration of how the Agentic AI Work</vt:lpstr>
      <vt:lpstr>PowerPoint Presentation</vt:lpstr>
      <vt:lpstr>PowerPoint Presentation</vt:lpstr>
      <vt:lpstr>PowerPoint Presentation</vt:lpstr>
      <vt:lpstr>LIVE DEMONSTRATION &amp; PROJECT RESOURCES</vt:lpstr>
      <vt:lpstr>CONCLUSION &amp; KEY ACHIEVEMENTS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oorja gund</dc:creator>
  <cp:lastModifiedBy>Shaan Saifi</cp:lastModifiedBy>
  <cp:revision>136</cp:revision>
  <dcterms:created xsi:type="dcterms:W3CDTF">2025-04-04T02:52:34Z</dcterms:created>
  <dcterms:modified xsi:type="dcterms:W3CDTF">2026-08-17T11:08:45Z</dcterms:modified>
</cp:coreProperties>
</file>